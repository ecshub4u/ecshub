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7" r:id="rId3"/>
    <p:sldId id="266" r:id="rId4"/>
    <p:sldId id="268" r:id="rId5"/>
    <p:sldId id="257" r:id="rId6"/>
    <p:sldId id="269" r:id="rId7"/>
    <p:sldId id="258" r:id="rId8"/>
    <p:sldId id="270" r:id="rId9"/>
    <p:sldId id="259" r:id="rId10"/>
    <p:sldId id="260" r:id="rId11"/>
    <p:sldId id="261" r:id="rId12"/>
    <p:sldId id="271" r:id="rId13"/>
    <p:sldId id="262" r:id="rId14"/>
    <p:sldId id="263" r:id="rId15"/>
    <p:sldId id="264"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82" d="100"/>
          <a:sy n="82"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2665337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2538389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1167364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C36A76-D357-41A1-A0F4-9F82B80B6965}"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4203046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C36A76-D357-41A1-A0F4-9F82B80B6965}"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358488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C36A76-D357-41A1-A0F4-9F82B80B6965}"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4024764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C36A76-D357-41A1-A0F4-9F82B80B6965}"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582007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C36A76-D357-41A1-A0F4-9F82B80B6965}"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1106106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C36A76-D357-41A1-A0F4-9F82B80B6965}"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1145182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2861755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1439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3816041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4074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16663262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3575576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C36A76-D357-41A1-A0F4-9F82B80B6965}"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E355-9B33-420C-AE8D-2BF8D75D28BA}" type="slidenum">
              <a:rPr lang="en-US" smtClean="0"/>
              <a:t>‹#›</a:t>
            </a:fld>
            <a:endParaRPr lang="en-US"/>
          </a:p>
        </p:txBody>
      </p:sp>
    </p:spTree>
    <p:extLst>
      <p:ext uri="{BB962C8B-B14F-4D97-AF65-F5344CB8AC3E}">
        <p14:creationId xmlns:p14="http://schemas.microsoft.com/office/powerpoint/2010/main" val="3308332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9C36A76-D357-41A1-A0F4-9F82B80B6965}" type="datetimeFigureOut">
              <a:rPr lang="en-US" smtClean="0"/>
              <a:t>8/14/2026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EC9E355-9B33-420C-AE8D-2BF8D75D28BA}" type="slidenum">
              <a:rPr lang="en-US" smtClean="0"/>
              <a:t>‹#›</a:t>
            </a:fld>
            <a:endParaRPr lang="en-US"/>
          </a:p>
        </p:txBody>
      </p:sp>
    </p:spTree>
    <p:extLst>
      <p:ext uri="{BB962C8B-B14F-4D97-AF65-F5344CB8AC3E}">
        <p14:creationId xmlns:p14="http://schemas.microsoft.com/office/powerpoint/2010/main" val="562750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93750" y="1611824"/>
            <a:ext cx="6307810" cy="2929180"/>
          </a:xfrm>
        </p:spPr>
        <p:txBody>
          <a:bodyPr/>
          <a:lstStyle/>
          <a:p>
            <a:pPr algn="ctr"/>
            <a:r>
              <a:rPr lang="en-US" b="1" dirty="0">
                <a:solidFill>
                  <a:srgbClr val="7030A0"/>
                </a:solidFill>
              </a:rPr>
              <a:t>Goodbye Party For Miss </a:t>
            </a:r>
            <a:r>
              <a:rPr lang="en-US" b="1" dirty="0" err="1">
                <a:solidFill>
                  <a:srgbClr val="7030A0"/>
                </a:solidFill>
              </a:rPr>
              <a:t>Pushpa</a:t>
            </a:r>
            <a:r>
              <a:rPr lang="en-US" b="1" dirty="0">
                <a:solidFill>
                  <a:srgbClr val="7030A0"/>
                </a:solidFill>
              </a:rPr>
              <a:t> T.S. </a:t>
            </a:r>
            <a:br>
              <a:rPr lang="en-US" b="1" dirty="0">
                <a:solidFill>
                  <a:srgbClr val="7030A0"/>
                </a:solidFill>
              </a:rPr>
            </a:br>
            <a:r>
              <a:rPr lang="en-US" dirty="0"/>
              <a:t>by </a:t>
            </a:r>
            <a:r>
              <a:rPr lang="en-US" dirty="0" err="1"/>
              <a:t>Nissim</a:t>
            </a:r>
            <a:r>
              <a:rPr lang="en-US" dirty="0"/>
              <a:t> Ezekiel</a:t>
            </a:r>
            <a:endParaRPr lang="en-US" b="1" dirty="0">
              <a:solidFill>
                <a:srgbClr val="7030A0"/>
              </a:solidFill>
            </a:endParaRPr>
          </a:p>
        </p:txBody>
      </p:sp>
      <p:sp>
        <p:nvSpPr>
          <p:cNvPr id="3" name="Subtitle 2"/>
          <p:cNvSpPr>
            <a:spLocks noGrp="1"/>
          </p:cNvSpPr>
          <p:nvPr>
            <p:ph type="subTitle" idx="1"/>
          </p:nvPr>
        </p:nvSpPr>
        <p:spPr>
          <a:xfrm>
            <a:off x="-1282627" y="5228704"/>
            <a:ext cx="7766936" cy="1096899"/>
          </a:xfrm>
        </p:spPr>
        <p:txBody>
          <a:bodyPr>
            <a:normAutofit/>
          </a:bodyPr>
          <a:lstStyle/>
          <a:p>
            <a:r>
              <a:rPr lang="en-US" sz="2800" dirty="0"/>
              <a:t>--</a:t>
            </a:r>
          </a:p>
          <a:p>
            <a:endParaRPr lang="en-US" sz="2800" dirty="0"/>
          </a:p>
        </p:txBody>
      </p:sp>
    </p:spTree>
    <p:extLst>
      <p:ext uri="{BB962C8B-B14F-4D97-AF65-F5344CB8AC3E}">
        <p14:creationId xmlns:p14="http://schemas.microsoft.com/office/powerpoint/2010/main" val="1546420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976" y="185980"/>
            <a:ext cx="10368365" cy="6672020"/>
          </a:xfrm>
        </p:spPr>
      </p:pic>
    </p:spTree>
    <p:extLst>
      <p:ext uri="{BB962C8B-B14F-4D97-AF65-F5344CB8AC3E}">
        <p14:creationId xmlns:p14="http://schemas.microsoft.com/office/powerpoint/2010/main" val="1439090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279756"/>
          </a:xfrm>
        </p:spPr>
        <p:txBody>
          <a:bodyPr>
            <a:normAutofit fontScale="90000"/>
          </a:bodyPr>
          <a:lstStyle/>
          <a:p>
            <a:r>
              <a:rPr lang="en-US" dirty="0" err="1">
                <a:solidFill>
                  <a:srgbClr val="002060"/>
                </a:solidFill>
              </a:rPr>
              <a:t>Nissim</a:t>
            </a:r>
            <a:r>
              <a:rPr lang="en-US" dirty="0">
                <a:solidFill>
                  <a:srgbClr val="002060"/>
                </a:solidFill>
              </a:rPr>
              <a:t> Ezekiel (1924–2004) was a pioneering Indian poet who wrote in English and is considered the father of modern Indian English poetry. He introduced realism, irony, and Indian themes into English poetry. His famous poems include </a:t>
            </a:r>
            <a:r>
              <a:rPr lang="en-US" i="1" dirty="0">
                <a:solidFill>
                  <a:srgbClr val="002060"/>
                </a:solidFill>
              </a:rPr>
              <a:t>Night of the Scorpion</a:t>
            </a:r>
            <a:r>
              <a:rPr lang="en-US" dirty="0">
                <a:solidFill>
                  <a:srgbClr val="002060"/>
                </a:solidFill>
              </a:rPr>
              <a:t>, </a:t>
            </a:r>
            <a:r>
              <a:rPr lang="en-US" i="1" dirty="0">
                <a:solidFill>
                  <a:srgbClr val="002060"/>
                </a:solidFill>
              </a:rPr>
              <a:t>Enterprise</a:t>
            </a:r>
            <a:r>
              <a:rPr lang="en-US" dirty="0">
                <a:solidFill>
                  <a:srgbClr val="002060"/>
                </a:solidFill>
              </a:rPr>
              <a:t>, </a:t>
            </a:r>
            <a:r>
              <a:rPr lang="en-US" i="1" dirty="0">
                <a:solidFill>
                  <a:srgbClr val="002060"/>
                </a:solidFill>
              </a:rPr>
              <a:t>The Professor</a:t>
            </a:r>
            <a:r>
              <a:rPr lang="en-US" dirty="0">
                <a:solidFill>
                  <a:srgbClr val="002060"/>
                </a:solidFill>
              </a:rPr>
              <a:t>, and </a:t>
            </a:r>
            <a:r>
              <a:rPr lang="en-US" i="1" dirty="0">
                <a:solidFill>
                  <a:srgbClr val="002060"/>
                </a:solidFill>
              </a:rPr>
              <a:t>Goodbye Party for Miss </a:t>
            </a:r>
            <a:r>
              <a:rPr lang="en-US" i="1" dirty="0" err="1">
                <a:solidFill>
                  <a:srgbClr val="002060"/>
                </a:solidFill>
              </a:rPr>
              <a:t>Pushpa</a:t>
            </a:r>
            <a:r>
              <a:rPr lang="en-US" i="1" dirty="0">
                <a:solidFill>
                  <a:srgbClr val="002060"/>
                </a:solidFill>
              </a:rPr>
              <a:t> T. S.</a:t>
            </a:r>
            <a:r>
              <a:rPr lang="en-US" dirty="0">
                <a:solidFill>
                  <a:srgbClr val="002060"/>
                </a:solidFill>
              </a:rPr>
              <a:t>. He received the </a:t>
            </a:r>
            <a:r>
              <a:rPr lang="en-US" dirty="0" err="1">
                <a:solidFill>
                  <a:srgbClr val="002060"/>
                </a:solidFill>
              </a:rPr>
              <a:t>Sahitya</a:t>
            </a:r>
            <a:r>
              <a:rPr lang="en-US" dirty="0">
                <a:solidFill>
                  <a:srgbClr val="002060"/>
                </a:solidFill>
              </a:rPr>
              <a:t> </a:t>
            </a:r>
            <a:r>
              <a:rPr lang="en-US" dirty="0" err="1">
                <a:solidFill>
                  <a:srgbClr val="002060"/>
                </a:solidFill>
              </a:rPr>
              <a:t>Akademi</a:t>
            </a:r>
            <a:r>
              <a:rPr lang="en-US" dirty="0">
                <a:solidFill>
                  <a:srgbClr val="002060"/>
                </a:solidFill>
              </a:rPr>
              <a:t> Award and the Padma Shri for his contribution to Indian literature</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020014" y="0"/>
            <a:ext cx="3006671" cy="6648773"/>
          </a:xfrm>
        </p:spPr>
      </p:pic>
    </p:spTree>
    <p:extLst>
      <p:ext uri="{BB962C8B-B14F-4D97-AF65-F5344CB8AC3E}">
        <p14:creationId xmlns:p14="http://schemas.microsoft.com/office/powerpoint/2010/main" val="123879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953" y="0"/>
            <a:ext cx="11298263" cy="6858000"/>
          </a:xfrm>
          <a:prstGeom prst="rect">
            <a:avLst/>
          </a:prstGeom>
        </p:spPr>
      </p:pic>
    </p:spTree>
    <p:extLst>
      <p:ext uri="{BB962C8B-B14F-4D97-AF65-F5344CB8AC3E}">
        <p14:creationId xmlns:p14="http://schemas.microsoft.com/office/powerpoint/2010/main" val="879304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19214" y="1115878"/>
            <a:ext cx="9763933" cy="4401205"/>
          </a:xfrm>
          <a:prstGeom prst="rect">
            <a:avLst/>
          </a:prstGeom>
          <a:noFill/>
        </p:spPr>
        <p:txBody>
          <a:bodyPr wrap="square" rtlCol="0">
            <a:spAutoFit/>
          </a:bodyPr>
          <a:lstStyle/>
          <a:p>
            <a:r>
              <a:rPr lang="en-US" sz="4000" b="1" dirty="0"/>
              <a:t>Friends,</a:t>
            </a:r>
            <a:br>
              <a:rPr lang="en-US" sz="4000" b="1" dirty="0"/>
            </a:br>
            <a:r>
              <a:rPr lang="en-US" sz="4000" b="1" dirty="0"/>
              <a:t>our dear sister</a:t>
            </a:r>
            <a:br>
              <a:rPr lang="en-US" sz="4000" b="1" dirty="0"/>
            </a:br>
            <a:r>
              <a:rPr lang="en-US" sz="4000" b="1" dirty="0">
                <a:solidFill>
                  <a:srgbClr val="FF0000"/>
                </a:solidFill>
              </a:rPr>
              <a:t>is departing for foreign</a:t>
            </a:r>
            <a:br>
              <a:rPr lang="en-US" sz="4000" b="1" dirty="0"/>
            </a:br>
            <a:r>
              <a:rPr lang="en-US" sz="4000" b="1" dirty="0"/>
              <a:t>in two three days,</a:t>
            </a:r>
            <a:br>
              <a:rPr lang="en-US" sz="4000" b="1" dirty="0"/>
            </a:br>
            <a:r>
              <a:rPr lang="en-US" sz="4000" b="1" dirty="0"/>
              <a:t>and</a:t>
            </a:r>
            <a:br>
              <a:rPr lang="en-US" sz="4000" b="1" dirty="0"/>
            </a:br>
            <a:r>
              <a:rPr lang="en-US" sz="4000" b="1" dirty="0"/>
              <a:t>we are meeting today</a:t>
            </a:r>
            <a:br>
              <a:rPr lang="en-US" sz="4000" b="1" dirty="0"/>
            </a:br>
            <a:r>
              <a:rPr lang="en-US" sz="4000" b="1" dirty="0"/>
              <a:t>to wish her </a:t>
            </a:r>
            <a:r>
              <a:rPr lang="en-US" sz="4000" b="1" dirty="0">
                <a:solidFill>
                  <a:srgbClr val="FF0000"/>
                </a:solidFill>
              </a:rPr>
              <a:t>bon voyage.</a:t>
            </a:r>
          </a:p>
        </p:txBody>
      </p:sp>
    </p:spTree>
    <p:extLst>
      <p:ext uri="{BB962C8B-B14F-4D97-AF65-F5344CB8AC3E}">
        <p14:creationId xmlns:p14="http://schemas.microsoft.com/office/powerpoint/2010/main" val="1690108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950" y="0"/>
            <a:ext cx="10817816" cy="6858000"/>
          </a:xfrm>
          <a:prstGeom prst="rect">
            <a:avLst/>
          </a:prstGeom>
        </p:spPr>
      </p:pic>
    </p:spTree>
    <p:extLst>
      <p:ext uri="{BB962C8B-B14F-4D97-AF65-F5344CB8AC3E}">
        <p14:creationId xmlns:p14="http://schemas.microsoft.com/office/powerpoint/2010/main" val="2708300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96325" y="1348352"/>
            <a:ext cx="9531458" cy="3970318"/>
          </a:xfrm>
          <a:prstGeom prst="rect">
            <a:avLst/>
          </a:prstGeom>
          <a:noFill/>
        </p:spPr>
        <p:txBody>
          <a:bodyPr wrap="square" rtlCol="0">
            <a:spAutoFit/>
          </a:bodyPr>
          <a:lstStyle/>
          <a:p>
            <a:r>
              <a:rPr lang="en-US" sz="3600" b="1" dirty="0">
                <a:solidFill>
                  <a:srgbClr val="FF0000"/>
                </a:solidFill>
              </a:rPr>
              <a:t>You are all knowing, friends,</a:t>
            </a:r>
            <a:br>
              <a:rPr lang="en-US" sz="3600" b="1" dirty="0">
                <a:solidFill>
                  <a:srgbClr val="FF0000"/>
                </a:solidFill>
              </a:rPr>
            </a:br>
            <a:r>
              <a:rPr lang="en-US" sz="3600" b="1" dirty="0">
                <a:solidFill>
                  <a:srgbClr val="FF0000"/>
                </a:solidFill>
              </a:rPr>
              <a:t>What sweetness is in Miss </a:t>
            </a:r>
            <a:r>
              <a:rPr lang="en-US" sz="3600" b="1" dirty="0" err="1">
                <a:solidFill>
                  <a:srgbClr val="FF0000"/>
                </a:solidFill>
              </a:rPr>
              <a:t>Pushpa</a:t>
            </a:r>
            <a:r>
              <a:rPr lang="en-US" sz="3600" b="1" dirty="0">
                <a:solidFill>
                  <a:srgbClr val="FF0000"/>
                </a:solidFill>
              </a:rPr>
              <a:t>.</a:t>
            </a:r>
            <a:br>
              <a:rPr lang="en-US" sz="3600" b="1" dirty="0">
                <a:solidFill>
                  <a:srgbClr val="FF0000"/>
                </a:solidFill>
              </a:rPr>
            </a:br>
            <a:r>
              <a:rPr lang="en-US" sz="3600" b="1" dirty="0"/>
              <a:t>I don't mean only external sweetness</a:t>
            </a:r>
            <a:br>
              <a:rPr lang="en-US" sz="3600" b="1" dirty="0"/>
            </a:br>
            <a:r>
              <a:rPr lang="en-US" sz="3600" b="1" dirty="0"/>
              <a:t>but internal sweetness.</a:t>
            </a:r>
            <a:br>
              <a:rPr lang="en-US" sz="3600" b="1" dirty="0"/>
            </a:br>
            <a:r>
              <a:rPr lang="en-US" sz="3600" b="1" dirty="0"/>
              <a:t>Miss </a:t>
            </a:r>
            <a:r>
              <a:rPr lang="en-US" sz="3600" b="1" dirty="0" err="1"/>
              <a:t>Pushpa</a:t>
            </a:r>
            <a:r>
              <a:rPr lang="en-US" sz="3600" b="1" dirty="0"/>
              <a:t> is smiling and smiling</a:t>
            </a:r>
            <a:br>
              <a:rPr lang="en-US" sz="3600" b="1" dirty="0"/>
            </a:br>
            <a:r>
              <a:rPr lang="en-US" sz="3600" b="1" dirty="0"/>
              <a:t>even for no reason but simply because</a:t>
            </a:r>
            <a:br>
              <a:rPr lang="en-US" sz="3600" b="1" dirty="0"/>
            </a:br>
            <a:r>
              <a:rPr lang="en-US" sz="3600" b="1" dirty="0">
                <a:solidFill>
                  <a:srgbClr val="FF0000"/>
                </a:solidFill>
              </a:rPr>
              <a:t>she is feeling.</a:t>
            </a:r>
          </a:p>
        </p:txBody>
      </p:sp>
    </p:spTree>
    <p:extLst>
      <p:ext uri="{BB962C8B-B14F-4D97-AF65-F5344CB8AC3E}">
        <p14:creationId xmlns:p14="http://schemas.microsoft.com/office/powerpoint/2010/main" val="3102792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917" y="0"/>
            <a:ext cx="10058400" cy="6742853"/>
          </a:xfrm>
          <a:prstGeom prst="rect">
            <a:avLst/>
          </a:prstGeom>
        </p:spPr>
      </p:pic>
    </p:spTree>
    <p:extLst>
      <p:ext uri="{BB962C8B-B14F-4D97-AF65-F5344CB8AC3E}">
        <p14:creationId xmlns:p14="http://schemas.microsoft.com/office/powerpoint/2010/main" val="2394183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8903" y="1689315"/>
            <a:ext cx="10197884" cy="3170099"/>
          </a:xfrm>
          <a:prstGeom prst="rect">
            <a:avLst/>
          </a:prstGeom>
          <a:noFill/>
        </p:spPr>
        <p:txBody>
          <a:bodyPr wrap="square" rtlCol="0">
            <a:spAutoFit/>
          </a:bodyPr>
          <a:lstStyle/>
          <a:p>
            <a:r>
              <a:rPr lang="en-US" sz="4000" b="1" dirty="0"/>
              <a:t>Miss </a:t>
            </a:r>
            <a:r>
              <a:rPr lang="en-US" sz="4000" b="1" dirty="0" err="1"/>
              <a:t>Pushpa</a:t>
            </a:r>
            <a:r>
              <a:rPr lang="en-US" sz="4000" b="1" dirty="0"/>
              <a:t> is coming</a:t>
            </a:r>
            <a:br>
              <a:rPr lang="en-US" sz="4000" b="1" dirty="0"/>
            </a:br>
            <a:r>
              <a:rPr lang="en-US" sz="4000" b="1" dirty="0">
                <a:solidFill>
                  <a:srgbClr val="FF0000"/>
                </a:solidFill>
              </a:rPr>
              <a:t>from very high family.</a:t>
            </a:r>
            <a:br>
              <a:rPr lang="en-US" sz="4000" b="1" dirty="0">
                <a:solidFill>
                  <a:srgbClr val="FF0000"/>
                </a:solidFill>
              </a:rPr>
            </a:br>
            <a:r>
              <a:rPr lang="en-US" sz="4000" b="1" dirty="0"/>
              <a:t>Her father was renowned advocate</a:t>
            </a:r>
            <a:br>
              <a:rPr lang="en-US" sz="4000" b="1" dirty="0"/>
            </a:br>
            <a:r>
              <a:rPr lang="en-US" sz="4000" b="1" dirty="0"/>
              <a:t>in </a:t>
            </a:r>
            <a:r>
              <a:rPr lang="en-US" sz="4000" b="1" dirty="0" err="1"/>
              <a:t>Bulsar</a:t>
            </a:r>
            <a:r>
              <a:rPr lang="en-US" sz="4000" b="1" dirty="0"/>
              <a:t> or </a:t>
            </a:r>
            <a:r>
              <a:rPr lang="en-US" sz="4000" b="1" dirty="0" err="1"/>
              <a:t>Surat</a:t>
            </a:r>
            <a:r>
              <a:rPr lang="en-US" sz="4000" b="1" dirty="0"/>
              <a:t>,</a:t>
            </a:r>
            <a:br>
              <a:rPr lang="en-US" sz="4000" b="1" dirty="0"/>
            </a:br>
            <a:r>
              <a:rPr lang="en-US" sz="4000" b="1" dirty="0">
                <a:solidFill>
                  <a:srgbClr val="FF0000"/>
                </a:solidFill>
              </a:rPr>
              <a:t>I am not remembering now which place.</a:t>
            </a:r>
          </a:p>
        </p:txBody>
      </p:sp>
    </p:spTree>
    <p:extLst>
      <p:ext uri="{BB962C8B-B14F-4D97-AF65-F5344CB8AC3E}">
        <p14:creationId xmlns:p14="http://schemas.microsoft.com/office/powerpoint/2010/main" val="3397572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13681" y="1007390"/>
            <a:ext cx="8431078" cy="3785652"/>
          </a:xfrm>
          <a:prstGeom prst="rect">
            <a:avLst/>
          </a:prstGeom>
          <a:noFill/>
        </p:spPr>
        <p:txBody>
          <a:bodyPr wrap="square" rtlCol="0">
            <a:spAutoFit/>
          </a:bodyPr>
          <a:lstStyle/>
          <a:p>
            <a:r>
              <a:rPr lang="en-US" sz="4000" b="1" dirty="0" err="1"/>
              <a:t>Surat</a:t>
            </a:r>
            <a:r>
              <a:rPr lang="en-US" sz="4000" b="1" dirty="0"/>
              <a:t>? Ah, yes,</a:t>
            </a:r>
            <a:br>
              <a:rPr lang="en-US" sz="4000" b="1" dirty="0"/>
            </a:br>
            <a:r>
              <a:rPr lang="en-US" sz="4000" b="1" dirty="0"/>
              <a:t>once only I stayed in </a:t>
            </a:r>
            <a:r>
              <a:rPr lang="en-US" sz="4000" b="1" dirty="0" err="1"/>
              <a:t>Surat</a:t>
            </a:r>
            <a:br>
              <a:rPr lang="en-US" sz="4000" b="1" dirty="0"/>
            </a:br>
            <a:r>
              <a:rPr lang="en-US" sz="4000" b="1" dirty="0"/>
              <a:t>with family members</a:t>
            </a:r>
            <a:br>
              <a:rPr lang="en-US" sz="4000" b="1" dirty="0"/>
            </a:br>
            <a:r>
              <a:rPr lang="en-US" sz="4000" b="1" dirty="0"/>
              <a:t>of my uncle's very old friend-</a:t>
            </a:r>
            <a:br>
              <a:rPr lang="en-US" sz="4000" b="1" dirty="0"/>
            </a:br>
            <a:r>
              <a:rPr lang="en-US" sz="4000" b="1" dirty="0"/>
              <a:t>his wife was cooking nicely…</a:t>
            </a:r>
            <a:br>
              <a:rPr lang="en-US" sz="4000" b="1" dirty="0"/>
            </a:br>
            <a:r>
              <a:rPr lang="en-US" sz="4000" b="1" dirty="0"/>
              <a:t>that was long time ago.</a:t>
            </a:r>
          </a:p>
        </p:txBody>
      </p:sp>
    </p:spTree>
    <p:extLst>
      <p:ext uri="{BB962C8B-B14F-4D97-AF65-F5344CB8AC3E}">
        <p14:creationId xmlns:p14="http://schemas.microsoft.com/office/powerpoint/2010/main" val="1796692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55742" y="2572718"/>
            <a:ext cx="8415580" cy="1938992"/>
          </a:xfrm>
          <a:prstGeom prst="rect">
            <a:avLst/>
          </a:prstGeom>
          <a:noFill/>
        </p:spPr>
        <p:txBody>
          <a:bodyPr wrap="square" rtlCol="0">
            <a:spAutoFit/>
          </a:bodyPr>
          <a:lstStyle/>
          <a:p>
            <a:r>
              <a:rPr lang="en-US" sz="4000" b="1" dirty="0"/>
              <a:t>Coming back to Miss </a:t>
            </a:r>
            <a:r>
              <a:rPr lang="en-US" sz="4000" b="1" dirty="0" err="1"/>
              <a:t>Pushpa</a:t>
            </a:r>
            <a:br>
              <a:rPr lang="en-US" sz="4000" b="1" dirty="0"/>
            </a:br>
            <a:r>
              <a:rPr lang="en-US" sz="4000" b="1" dirty="0"/>
              <a:t>she is most popular lady</a:t>
            </a:r>
            <a:br>
              <a:rPr lang="en-US" sz="4000" b="1" dirty="0"/>
            </a:br>
            <a:r>
              <a:rPr lang="en-US" sz="4000" b="1" dirty="0"/>
              <a:t>with men also and ladies also.</a:t>
            </a:r>
          </a:p>
        </p:txBody>
      </p:sp>
    </p:spTree>
    <p:extLst>
      <p:ext uri="{BB962C8B-B14F-4D97-AF65-F5344CB8AC3E}">
        <p14:creationId xmlns:p14="http://schemas.microsoft.com/office/powerpoint/2010/main" val="3810082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837" y="0"/>
            <a:ext cx="6571281" cy="6191573"/>
          </a:xfrm>
          <a:prstGeom prst="rect">
            <a:avLst/>
          </a:prstGeom>
        </p:spPr>
      </p:pic>
    </p:spTree>
    <p:extLst>
      <p:ext uri="{BB962C8B-B14F-4D97-AF65-F5344CB8AC3E}">
        <p14:creationId xmlns:p14="http://schemas.microsoft.com/office/powerpoint/2010/main" val="1547469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3885" y="1999282"/>
            <a:ext cx="10089397" cy="3170099"/>
          </a:xfrm>
          <a:prstGeom prst="rect">
            <a:avLst/>
          </a:prstGeom>
          <a:noFill/>
        </p:spPr>
        <p:txBody>
          <a:bodyPr wrap="square" rtlCol="0">
            <a:spAutoFit/>
          </a:bodyPr>
          <a:lstStyle/>
          <a:p>
            <a:r>
              <a:rPr lang="en-US" sz="4000" b="1" dirty="0"/>
              <a:t>Whenever I asked her to do anything,</a:t>
            </a:r>
            <a:br>
              <a:rPr lang="en-US" sz="4000" b="1" dirty="0"/>
            </a:br>
            <a:r>
              <a:rPr lang="en-US" sz="4000" b="1" dirty="0"/>
              <a:t>she was saying, </a:t>
            </a:r>
            <a:r>
              <a:rPr lang="en-US" sz="4000" b="1" dirty="0">
                <a:solidFill>
                  <a:srgbClr val="FF0000"/>
                </a:solidFill>
              </a:rPr>
              <a:t>'Just now only</a:t>
            </a:r>
            <a:br>
              <a:rPr lang="en-US" sz="4000" b="1" dirty="0">
                <a:solidFill>
                  <a:srgbClr val="FF0000"/>
                </a:solidFill>
              </a:rPr>
            </a:br>
            <a:r>
              <a:rPr lang="en-US" sz="4000" b="1" dirty="0">
                <a:solidFill>
                  <a:srgbClr val="FF0000"/>
                </a:solidFill>
              </a:rPr>
              <a:t>I will do it.' </a:t>
            </a:r>
            <a:r>
              <a:rPr lang="en-US" sz="4000" b="1" dirty="0"/>
              <a:t>That is showing</a:t>
            </a:r>
            <a:br>
              <a:rPr lang="en-US" sz="4000" b="1" dirty="0"/>
            </a:br>
            <a:r>
              <a:rPr lang="en-US" sz="4000" b="1" dirty="0"/>
              <a:t>good spirit. I am always</a:t>
            </a:r>
            <a:br>
              <a:rPr lang="en-US" sz="4000" b="1" dirty="0"/>
            </a:br>
            <a:r>
              <a:rPr lang="en-US" sz="4000" b="1" dirty="0"/>
              <a:t>appreciating the good spirit.</a:t>
            </a:r>
          </a:p>
        </p:txBody>
      </p:sp>
    </p:spTree>
    <p:extLst>
      <p:ext uri="{BB962C8B-B14F-4D97-AF65-F5344CB8AC3E}">
        <p14:creationId xmlns:p14="http://schemas.microsoft.com/office/powerpoint/2010/main" val="2428801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7254" y="883403"/>
            <a:ext cx="10306373" cy="5078313"/>
          </a:xfrm>
          <a:prstGeom prst="rect">
            <a:avLst/>
          </a:prstGeom>
          <a:noFill/>
        </p:spPr>
        <p:txBody>
          <a:bodyPr wrap="square" rtlCol="0">
            <a:spAutoFit/>
          </a:bodyPr>
          <a:lstStyle/>
          <a:p>
            <a:r>
              <a:rPr lang="en-US" sz="3600" b="1" dirty="0" err="1">
                <a:solidFill>
                  <a:srgbClr val="FF0000"/>
                </a:solidFill>
              </a:rPr>
              <a:t>Pushpa</a:t>
            </a:r>
            <a:r>
              <a:rPr lang="en-US" sz="3600" b="1" dirty="0">
                <a:solidFill>
                  <a:srgbClr val="FF0000"/>
                </a:solidFill>
              </a:rPr>
              <a:t> Miss </a:t>
            </a:r>
            <a:r>
              <a:rPr lang="en-US" sz="3600" b="1" dirty="0"/>
              <a:t>is never saying no.</a:t>
            </a:r>
            <a:br>
              <a:rPr lang="en-US" sz="3600" b="1" dirty="0"/>
            </a:br>
            <a:r>
              <a:rPr lang="en-US" sz="3600" b="1" dirty="0"/>
              <a:t>Whatever I or anybody is asking</a:t>
            </a:r>
            <a:br>
              <a:rPr lang="en-US" sz="3600" b="1" dirty="0"/>
            </a:br>
            <a:r>
              <a:rPr lang="en-US" sz="3600" b="1" dirty="0"/>
              <a:t>she is always saying yes,</a:t>
            </a:r>
            <a:br>
              <a:rPr lang="en-US" sz="3600" b="1" dirty="0"/>
            </a:br>
            <a:r>
              <a:rPr lang="en-US" sz="3600" b="1" dirty="0"/>
              <a:t>and today </a:t>
            </a:r>
            <a:r>
              <a:rPr lang="en-US" sz="3600" b="1" dirty="0">
                <a:solidFill>
                  <a:srgbClr val="FF0000"/>
                </a:solidFill>
              </a:rPr>
              <a:t>she is going</a:t>
            </a:r>
            <a:br>
              <a:rPr lang="en-US" sz="3600" b="1" dirty="0">
                <a:solidFill>
                  <a:srgbClr val="FF0000"/>
                </a:solidFill>
              </a:rPr>
            </a:br>
            <a:r>
              <a:rPr lang="en-US" sz="3600" b="1" dirty="0">
                <a:solidFill>
                  <a:srgbClr val="FF0000"/>
                </a:solidFill>
              </a:rPr>
              <a:t>to improve her prospect</a:t>
            </a:r>
            <a:br>
              <a:rPr lang="en-US" sz="3600" b="1" dirty="0"/>
            </a:br>
            <a:r>
              <a:rPr lang="en-US" sz="3600" b="1" dirty="0"/>
              <a:t>and we are wishing her bon voyage.</a:t>
            </a:r>
            <a:br>
              <a:rPr lang="en-US" sz="3600" b="1" dirty="0"/>
            </a:br>
            <a:r>
              <a:rPr lang="en-US" sz="3600" b="1" dirty="0"/>
              <a:t>Now I ask other speakers to speak</a:t>
            </a:r>
            <a:br>
              <a:rPr lang="en-US" sz="3600" b="1" dirty="0"/>
            </a:br>
            <a:r>
              <a:rPr lang="en-US" sz="3600" b="1" dirty="0"/>
              <a:t>and afterwards Miss </a:t>
            </a:r>
            <a:r>
              <a:rPr lang="en-US" sz="3600" b="1" dirty="0" err="1"/>
              <a:t>Pushpa</a:t>
            </a:r>
            <a:br>
              <a:rPr lang="en-US" sz="3600" b="1" dirty="0"/>
            </a:br>
            <a:r>
              <a:rPr lang="en-US" sz="3600" b="1" dirty="0"/>
              <a:t>will do summing up.</a:t>
            </a:r>
          </a:p>
        </p:txBody>
      </p:sp>
    </p:spTree>
    <p:extLst>
      <p:ext uri="{BB962C8B-B14F-4D97-AF65-F5344CB8AC3E}">
        <p14:creationId xmlns:p14="http://schemas.microsoft.com/office/powerpoint/2010/main" val="2398837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1363850" y="616718"/>
            <a:ext cx="779564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Arial" panose="020B0604020202020204" pitchFamily="34" charset="0"/>
              </a:rPr>
              <a:t>"</a:t>
            </a:r>
            <a:r>
              <a:rPr kumimoji="0" lang="en-US" sz="2400" b="1" i="0" u="none" strike="noStrike" cap="none" normalizeH="0" baseline="0" dirty="0">
                <a:ln>
                  <a:noFill/>
                </a:ln>
                <a:solidFill>
                  <a:schemeClr val="tx1"/>
                </a:solidFill>
                <a:effectLst/>
                <a:latin typeface="Arial" panose="020B0604020202020204" pitchFamily="34" charset="0"/>
              </a:rPr>
              <a:t>is departing for foreign"</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is departing for a foreign country / is going abroad</a:t>
            </a:r>
            <a:r>
              <a:rPr kumimoji="0" 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Arial" panose="020B0604020202020204" pitchFamily="34" charset="0"/>
              </a:rPr>
              <a:t>"You are all knowing"</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You all know</a:t>
            </a:r>
            <a:r>
              <a:rPr kumimoji="0" 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Arial" panose="020B0604020202020204" pitchFamily="34" charset="0"/>
              </a:rPr>
              <a:t>"What sweetness is in Miss </a:t>
            </a:r>
            <a:r>
              <a:rPr kumimoji="0" lang="en-US" sz="2400" b="1" i="0" u="none" strike="noStrike" cap="none" normalizeH="0" baseline="0" dirty="0" err="1">
                <a:ln>
                  <a:noFill/>
                </a:ln>
                <a:solidFill>
                  <a:schemeClr val="tx1"/>
                </a:solidFill>
                <a:effectLst/>
                <a:latin typeface="Arial" panose="020B0604020202020204" pitchFamily="34" charset="0"/>
              </a:rPr>
              <a:t>Pushpa</a:t>
            </a:r>
            <a:r>
              <a:rPr kumimoji="0" lang="en-US" sz="2400" b="1" i="0" u="none" strike="noStrike" cap="none" normalizeH="0" baseline="0" dirty="0">
                <a:ln>
                  <a:noFill/>
                </a:ln>
                <a:solidFill>
                  <a:schemeClr val="tx1"/>
                </a:solidFill>
                <a:effectLst/>
                <a:latin typeface="Arial" panose="020B0604020202020204" pitchFamily="34" charset="0"/>
              </a:rPr>
              <a:t>"</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How sweet Miss </a:t>
            </a:r>
            <a:r>
              <a:rPr kumimoji="0" lang="en-US" sz="2400" b="0" i="1" u="none" strike="noStrike" cap="none" normalizeH="0" baseline="0" dirty="0" err="1">
                <a:ln>
                  <a:noFill/>
                </a:ln>
                <a:solidFill>
                  <a:schemeClr val="tx1"/>
                </a:solidFill>
                <a:effectLst/>
                <a:latin typeface="Arial" panose="020B0604020202020204" pitchFamily="34" charset="0"/>
              </a:rPr>
              <a:t>Pushpa</a:t>
            </a:r>
            <a:r>
              <a:rPr kumimoji="0" lang="en-US" sz="2400" b="0" i="1" u="none" strike="noStrike" cap="none" normalizeH="0" baseline="0" dirty="0">
                <a:ln>
                  <a:noFill/>
                </a:ln>
                <a:solidFill>
                  <a:schemeClr val="tx1"/>
                </a:solidFill>
                <a:effectLst/>
                <a:latin typeface="Arial" panose="020B0604020202020204" pitchFamily="34" charset="0"/>
              </a:rPr>
              <a:t> is</a:t>
            </a:r>
            <a:r>
              <a:rPr kumimoji="0" 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Arial" panose="020B0604020202020204" pitchFamily="34" charset="0"/>
              </a:rPr>
              <a:t>"she is feeling"</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she is feeling happy</a:t>
            </a:r>
            <a:r>
              <a:rPr kumimoji="0" 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Arial" panose="020B0604020202020204" pitchFamily="34" charset="0"/>
              </a:rPr>
              <a:t>"from very high family"</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from a very distinguished family</a:t>
            </a:r>
            <a:r>
              <a:rPr kumimoji="0" 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Arial" panose="020B0604020202020204" pitchFamily="34" charset="0"/>
              </a:rPr>
              <a:t>"I am not remembering"</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I do not remember</a:t>
            </a:r>
            <a:r>
              <a:rPr kumimoji="0" 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Arial" panose="020B0604020202020204" pitchFamily="34" charset="0"/>
              </a:rPr>
              <a:t>"Just now only I will do it"</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I will do it right away</a:t>
            </a:r>
            <a:r>
              <a:rPr kumimoji="0" 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Arial" panose="020B0604020202020204" pitchFamily="34" charset="0"/>
              </a:rPr>
              <a:t>"</a:t>
            </a:r>
            <a:r>
              <a:rPr kumimoji="0" lang="en-US" sz="2400" b="1" i="0" u="none" strike="noStrike" cap="none" normalizeH="0" baseline="0" dirty="0" err="1">
                <a:ln>
                  <a:noFill/>
                </a:ln>
                <a:solidFill>
                  <a:schemeClr val="tx1"/>
                </a:solidFill>
                <a:effectLst/>
                <a:latin typeface="Arial" panose="020B0604020202020204" pitchFamily="34" charset="0"/>
              </a:rPr>
              <a:t>Pushpa</a:t>
            </a:r>
            <a:r>
              <a:rPr kumimoji="0" lang="en-US" sz="2400" b="1" i="0" u="none" strike="noStrike" cap="none" normalizeH="0" baseline="0" dirty="0">
                <a:ln>
                  <a:noFill/>
                </a:ln>
                <a:solidFill>
                  <a:schemeClr val="tx1"/>
                </a:solidFill>
                <a:effectLst/>
                <a:latin typeface="Arial" panose="020B0604020202020204" pitchFamily="34" charset="0"/>
              </a:rPr>
              <a:t> Miss"</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Miss </a:t>
            </a:r>
            <a:r>
              <a:rPr kumimoji="0" lang="en-US" sz="2400" b="0" i="1" u="none" strike="noStrike" cap="none" normalizeH="0" baseline="0" dirty="0" err="1">
                <a:ln>
                  <a:noFill/>
                </a:ln>
                <a:solidFill>
                  <a:schemeClr val="tx1"/>
                </a:solidFill>
                <a:effectLst/>
                <a:latin typeface="Arial" panose="020B0604020202020204" pitchFamily="34" charset="0"/>
              </a:rPr>
              <a:t>Pushpa</a:t>
            </a:r>
            <a:r>
              <a:rPr kumimoji="0" 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Arial" panose="020B0604020202020204" pitchFamily="34" charset="0"/>
              </a:rPr>
              <a:t>"she is going to improve her prospect"</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she is going to improve her prospects</a:t>
            </a:r>
            <a:r>
              <a:rPr kumimoji="0" 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Arial" panose="020B0604020202020204" pitchFamily="34" charset="0"/>
              </a:rPr>
              <a:t>"will do summing up"</a:t>
            </a:r>
            <a:r>
              <a:rPr kumimoji="0" lang="en-US" sz="2400" b="0" i="0" u="none" strike="noStrike" cap="none" normalizeH="0" baseline="0" dirty="0">
                <a:ln>
                  <a:noFill/>
                </a:ln>
                <a:solidFill>
                  <a:schemeClr val="tx1"/>
                </a:solidFill>
                <a:effectLst/>
                <a:latin typeface="Arial" panose="020B0604020202020204" pitchFamily="34" charset="0"/>
              </a:rPr>
              <a:t> → </a:t>
            </a:r>
            <a:r>
              <a:rPr kumimoji="0" lang="en-US" sz="2400" b="0" i="1" u="none" strike="noStrike" cap="none" normalizeH="0" baseline="0" dirty="0">
                <a:ln>
                  <a:noFill/>
                </a:ln>
                <a:solidFill>
                  <a:schemeClr val="tx1"/>
                </a:solidFill>
                <a:effectLst/>
                <a:latin typeface="Arial" panose="020B0604020202020204" pitchFamily="34" charset="0"/>
              </a:rPr>
              <a:t>will give the concluding remarks / will sum up</a:t>
            </a:r>
            <a:r>
              <a:rPr kumimoji="0" 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050234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22549" y="1859797"/>
            <a:ext cx="5687878" cy="3139321"/>
          </a:xfrm>
          <a:prstGeom prst="rect">
            <a:avLst/>
          </a:prstGeom>
          <a:noFill/>
        </p:spPr>
        <p:txBody>
          <a:bodyPr wrap="square" rtlCol="0">
            <a:spAutoFit/>
          </a:bodyPr>
          <a:lstStyle/>
          <a:p>
            <a:r>
              <a:rPr lang="en-US" sz="6600" b="1" dirty="0"/>
              <a:t>Thank You will meet soon….</a:t>
            </a:r>
          </a:p>
        </p:txBody>
      </p:sp>
    </p:spTree>
    <p:extLst>
      <p:ext uri="{BB962C8B-B14F-4D97-AF65-F5344CB8AC3E}">
        <p14:creationId xmlns:p14="http://schemas.microsoft.com/office/powerpoint/2010/main" val="14189508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188</TotalTime>
  <Words>492</Words>
  <Application>Microsoft Office PowerPoint</Application>
  <PresentationFormat>Widescreen</PresentationFormat>
  <Paragraphs>21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Trebuchet MS</vt:lpstr>
      <vt:lpstr>Wingdings 3</vt:lpstr>
      <vt:lpstr>Facet</vt:lpstr>
      <vt:lpstr>Goodbye Party For Miss Pushpa T.S.  by Nissim Ezekiel</vt:lpstr>
      <vt:lpstr>PowerPoint Presentation</vt:lpstr>
      <vt:lpstr>Nissim Ezekiel (1924–2004) was a pioneering Indian poet who wrote in English and is considered the father of modern Indian English poetry. He introduced realism, irony, and Indian themes into English poetry. His famous poems include Night of the Scorpion, Enterprise, The Professor, and Goodbye Party for Miss Pushpa T. S.. He received the Sahitya Akademi Award and the Padma Shri for his contribution to Indian literature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Goodbye Party For Miss Pushpa T.S.</dc:title>
  <dc:creator>SANGOLA</dc:creator>
  <cp:lastModifiedBy>rohan pawar</cp:lastModifiedBy>
  <cp:revision>22</cp:revision>
  <dcterms:created xsi:type="dcterms:W3CDTF">2026-06-19T05:55:08Z</dcterms:created>
  <dcterms:modified xsi:type="dcterms:W3CDTF">2026-08-14T15:14:38Z</dcterms:modified>
</cp:coreProperties>
</file>